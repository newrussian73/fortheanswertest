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7.xml"/><Relationship Id="rId4" Type="http://schemas.openxmlformats.org/officeDocument/2006/relationships/slide" Target="slide9.xml"/><Relationship Id="rId5" Type="http://schemas.openxmlformats.org/officeDocument/2006/relationships/slide" Target="slide11.xml"/><Relationship Id="rId6" Type="http://schemas.openxmlformats.org/officeDocument/2006/relationships/slide" Target="slide13.xml"/><Relationship Id="rId7" Type="http://schemas.openxmlformats.org/officeDocument/2006/relationships/slide" Target="slide15.xml"/><Relationship Id="rId8" Type="http://schemas.openxmlformats.org/officeDocument/2006/relationships/slide" Target="slide17.xml"/><Relationship Id="rId9" Type="http://schemas.openxmlformats.org/officeDocument/2006/relationships/slide" Target="slide19.xml"/><Relationship Id="rId10" Type="http://schemas.openxmlformats.org/officeDocument/2006/relationships/slide" Target="slide21.xml"/><Relationship Id="rId11" Type="http://schemas.openxmlformats.org/officeDocument/2006/relationships/slide" Target="slide23.xml"/><Relationship Id="rId12" Type="http://schemas.openxmlformats.org/officeDocument/2006/relationships/slide" Target="slide25.xml"/><Relationship Id="rId13" Type="http://schemas.openxmlformats.org/officeDocument/2006/relationships/slide" Target="slide27.xml"/><Relationship Id="rId14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8.xml"/><Relationship Id="rId3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0.xml"/><Relationship Id="rId3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.xml"/><Relationship Id="rId3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.xml"/><Relationship Id="rId3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6.xml"/><Relationship Id="rId3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8.xml"/><Relationship Id="rId3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0.xml"/><Relationship Id="rId3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2.xml"/><Relationship Id="rId3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4.xml"/><Relationship Id="rId3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6.xml"/><Relationship Id="rId3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8.xml"/><Relationship Id="rId3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3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438912"/>
            <a:ext cx="109728" cy="109728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6309360"/>
            <a:ext cx="182880" cy="182880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6236208"/>
            <a:ext cx="91440" cy="91440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2920"/>
            <a:ext cx="73152" cy="73152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6355080"/>
            <a:ext cx="54864" cy="54864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438912"/>
            <a:ext cx="1828800" cy="73152"/>
          </a:xfrm>
          <a:prstGeom prst="roundRect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6382512"/>
            <a:ext cx="1783080" cy="73152"/>
          </a:xfrm>
          <a:prstGeom prst="roundRect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5156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2DF5FF"/>
                </a:solidFill>
                <a:latin typeface="Aptos Display"/>
              </a:rPr>
              <a:t>СВОЯ ИГРА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7F6FF"/>
                </a:solidFill>
                <a:latin typeface="Aptos Display"/>
              </a:rPr>
              <a:t>День рождения Влада и Аллы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96312"/>
            <a:ext cx="9966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B6AFDA"/>
                </a:solidFill>
                <a:latin typeface="Aptos Display"/>
              </a:rPr>
              <a:t>Яркий вечер, громкие ответы и много поводов улыбнуться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3703320"/>
            <a:ext cx="6336792" cy="102412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3895344"/>
            <a:ext cx="5989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E14A"/>
                </a:solidFill>
                <a:latin typeface="Aptos Display"/>
              </a:rPr>
              <a:t>10 команд  •  4 категории  •  12 вопросов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257800"/>
            <a:ext cx="39776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B6AFDA"/>
                </a:solidFill>
                <a:latin typeface="Aptos Display"/>
              </a:rPr>
              <a:t>Нажмите «Начать»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4261104" y="5687568"/>
            <a:ext cx="3657600" cy="56692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НАЧАТЬ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438912"/>
            <a:ext cx="109728" cy="109728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6309360"/>
            <a:ext cx="182880" cy="182880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6236208"/>
            <a:ext cx="91440" cy="91440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2920"/>
            <a:ext cx="73152" cy="73152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6355080"/>
            <a:ext cx="54864" cy="54864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438912"/>
            <a:ext cx="1828800" cy="73152"/>
          </a:xfrm>
          <a:prstGeom prst="roundRect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6382512"/>
            <a:ext cx="1783080" cy="73152"/>
          </a:xfrm>
          <a:prstGeom prst="roundRect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F32B8"/>
                </a:solidFill>
                <a:latin typeface="Aptos Display"/>
              </a:rPr>
              <a:t>КАК ИГРАЕМ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1417320"/>
            <a:ext cx="9994392" cy="658368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1508760"/>
            <a:ext cx="9372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7F6FF"/>
                </a:solidFill>
                <a:latin typeface="Aptos Display"/>
              </a:rPr>
              <a:t>1.  Выберите вопрос на табло — стоимость равна числу баллов.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377440"/>
            <a:ext cx="9994392" cy="658368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2468880"/>
            <a:ext cx="9372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7F6FF"/>
                </a:solidFill>
                <a:latin typeface="Aptos Display"/>
              </a:rPr>
              <a:t>2.  На обсуждение даётся до 30 секунд.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337560"/>
            <a:ext cx="9994392" cy="658368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8" y="3429000"/>
            <a:ext cx="9372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7F6FF"/>
                </a:solidFill>
                <a:latin typeface="Aptos Display"/>
              </a:rPr>
              <a:t>3.  В творческих раундах решение — за именинниками или ведущим.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297680"/>
            <a:ext cx="9994392" cy="658368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89888" y="4389120"/>
            <a:ext cx="9372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7F6FF"/>
                </a:solidFill>
                <a:latin typeface="Aptos Display"/>
              </a:rPr>
              <a:t>4.  Ведите счёт на отдельном слайде или в любом удобном месте.</a:t>
            </a:r>
          </a:p>
        </p:txBody>
      </p:sp>
      <p:sp>
        <p:nvSpPr>
          <p:cNvPr id="19" name="Rounded Rectangle 18">
            <a:hlinkClick action="ppaction://hlinksldjump" r:id="rId2"/>
          </p:cNvPr>
          <p:cNvSpPr/>
          <p:nvPr/>
        </p:nvSpPr>
        <p:spPr>
          <a:xfrm>
            <a:off x="4261104" y="5715000"/>
            <a:ext cx="3657600" cy="56692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438912"/>
            <a:ext cx="109728" cy="109728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6309360"/>
            <a:ext cx="182880" cy="182880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6236208"/>
            <a:ext cx="91440" cy="91440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2920"/>
            <a:ext cx="73152" cy="73152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6355080"/>
            <a:ext cx="54864" cy="54864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438912"/>
            <a:ext cx="1828800" cy="73152"/>
          </a:xfrm>
          <a:prstGeom prst="roundRect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6382512"/>
            <a:ext cx="1783080" cy="73152"/>
          </a:xfrm>
          <a:prstGeom prst="roundRect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2DF5FF"/>
                </a:solidFill>
                <a:latin typeface="Aptos Display"/>
              </a:rPr>
              <a:t>ТАБЛО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078992"/>
            <a:ext cx="2304288" cy="749808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207008"/>
            <a:ext cx="22128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7F6FF"/>
                </a:solidFill>
                <a:latin typeface="Aptos Display"/>
              </a:rPr>
              <a:t>ИМЕНИННИКИ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566928" y="2057400"/>
            <a:ext cx="2304288" cy="74980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E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E14A"/>
                </a:solidFill>
                <a:latin typeface="Aptos Display"/>
              </a:rPr>
              <a:t>100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566928" y="3172968"/>
            <a:ext cx="2304288" cy="74980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E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E14A"/>
                </a:solidFill>
                <a:latin typeface="Aptos Display"/>
              </a:rPr>
              <a:t>200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566928" y="4288536"/>
            <a:ext cx="2304288" cy="74980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E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E14A"/>
                </a:solidFill>
                <a:latin typeface="Aptos Display"/>
              </a:rPr>
              <a:t>300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83864" y="1078992"/>
            <a:ext cx="2304288" cy="749808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1207008"/>
            <a:ext cx="22128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7F6FF"/>
                </a:solidFill>
                <a:latin typeface="Aptos Display"/>
              </a:rPr>
              <a:t>ТАНЦПОЛ</a:t>
            </a:r>
          </a:p>
        </p:txBody>
      </p:sp>
      <p:sp>
        <p:nvSpPr>
          <p:cNvPr id="18" name="Rounded Rectangle 17">
            <a:hlinkClick action="ppaction://hlinksldjump" r:id="rId5"/>
          </p:cNvPr>
          <p:cNvSpPr/>
          <p:nvPr/>
        </p:nvSpPr>
        <p:spPr>
          <a:xfrm>
            <a:off x="3483864" y="2057400"/>
            <a:ext cx="2304288" cy="74980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E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E14A"/>
                </a:solidFill>
                <a:latin typeface="Aptos Display"/>
              </a:rPr>
              <a:t>100</a:t>
            </a:r>
          </a:p>
        </p:txBody>
      </p:sp>
      <p:sp>
        <p:nvSpPr>
          <p:cNvPr id="19" name="Rounded Rectangle 18">
            <a:hlinkClick action="ppaction://hlinksldjump" r:id="rId6"/>
          </p:cNvPr>
          <p:cNvSpPr/>
          <p:nvPr/>
        </p:nvSpPr>
        <p:spPr>
          <a:xfrm>
            <a:off x="3483864" y="3172968"/>
            <a:ext cx="2304288" cy="74980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E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E14A"/>
                </a:solidFill>
                <a:latin typeface="Aptos Display"/>
              </a:rPr>
              <a:t>200</a:t>
            </a:r>
          </a:p>
        </p:txBody>
      </p:sp>
      <p:sp>
        <p:nvSpPr>
          <p:cNvPr id="20" name="Rounded Rectangle 19">
            <a:hlinkClick action="ppaction://hlinksldjump" r:id="rId7"/>
          </p:cNvPr>
          <p:cNvSpPr/>
          <p:nvPr/>
        </p:nvSpPr>
        <p:spPr>
          <a:xfrm>
            <a:off x="3483864" y="4288536"/>
            <a:ext cx="2304288" cy="74980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E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E14A"/>
                </a:solidFill>
                <a:latin typeface="Aptos Display"/>
              </a:rPr>
              <a:t>300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078992"/>
            <a:ext cx="2304288" cy="749808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207008"/>
            <a:ext cx="22128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7F6FF"/>
                </a:solidFill>
                <a:latin typeface="Aptos Display"/>
              </a:rPr>
              <a:t>КИНО ВЕЧЕРА</a:t>
            </a:r>
          </a:p>
        </p:txBody>
      </p:sp>
      <p:sp>
        <p:nvSpPr>
          <p:cNvPr id="23" name="Rounded Rectangle 22">
            <a:hlinkClick action="ppaction://hlinksldjump" r:id="rId8"/>
          </p:cNvPr>
          <p:cNvSpPr/>
          <p:nvPr/>
        </p:nvSpPr>
        <p:spPr>
          <a:xfrm>
            <a:off x="6400800" y="2057400"/>
            <a:ext cx="2304288" cy="74980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E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E14A"/>
                </a:solidFill>
                <a:latin typeface="Aptos Display"/>
              </a:rPr>
              <a:t>100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6400800" y="3172968"/>
            <a:ext cx="2304288" cy="74980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E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E14A"/>
                </a:solidFill>
                <a:latin typeface="Aptos Display"/>
              </a:rPr>
              <a:t>200</a:t>
            </a:r>
          </a:p>
        </p:txBody>
      </p:sp>
      <p:sp>
        <p:nvSpPr>
          <p:cNvPr id="25" name="Rounded Rectangle 24">
            <a:hlinkClick action="ppaction://hlinksldjump" r:id="rId10"/>
          </p:cNvPr>
          <p:cNvSpPr/>
          <p:nvPr/>
        </p:nvSpPr>
        <p:spPr>
          <a:xfrm>
            <a:off x="6400800" y="4288536"/>
            <a:ext cx="2304288" cy="74980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E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E14A"/>
                </a:solidFill>
                <a:latin typeface="Aptos Display"/>
              </a:rPr>
              <a:t>300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17736" y="1078992"/>
            <a:ext cx="2304288" cy="749808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63456" y="1207008"/>
            <a:ext cx="22128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7F6FF"/>
                </a:solidFill>
                <a:latin typeface="Aptos Display"/>
              </a:rPr>
              <a:t>НА ВКУС</a:t>
            </a:r>
          </a:p>
        </p:txBody>
      </p:sp>
      <p:sp>
        <p:nvSpPr>
          <p:cNvPr id="28" name="Rounded Rectangle 27">
            <a:hlinkClick action="ppaction://hlinksldjump" r:id="rId11"/>
          </p:cNvPr>
          <p:cNvSpPr/>
          <p:nvPr/>
        </p:nvSpPr>
        <p:spPr>
          <a:xfrm>
            <a:off x="9317736" y="2057400"/>
            <a:ext cx="2304288" cy="74980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E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E14A"/>
                </a:solidFill>
                <a:latin typeface="Aptos Display"/>
              </a:rPr>
              <a:t>100</a:t>
            </a:r>
          </a:p>
        </p:txBody>
      </p:sp>
      <p:sp>
        <p:nvSpPr>
          <p:cNvPr id="29" name="Rounded Rectangle 28">
            <a:hlinkClick action="ppaction://hlinksldjump" r:id="rId12"/>
          </p:cNvPr>
          <p:cNvSpPr/>
          <p:nvPr/>
        </p:nvSpPr>
        <p:spPr>
          <a:xfrm>
            <a:off x="9317736" y="3172968"/>
            <a:ext cx="2304288" cy="74980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E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E14A"/>
                </a:solidFill>
                <a:latin typeface="Aptos Display"/>
              </a:rPr>
              <a:t>200</a:t>
            </a:r>
          </a:p>
        </p:txBody>
      </p:sp>
      <p:sp>
        <p:nvSpPr>
          <p:cNvPr id="30" name="Rounded Rectangle 29">
            <a:hlinkClick action="ppaction://hlinksldjump" r:id="rId13"/>
          </p:cNvPr>
          <p:cNvSpPr/>
          <p:nvPr/>
        </p:nvSpPr>
        <p:spPr>
          <a:xfrm>
            <a:off x="9317736" y="4288536"/>
            <a:ext cx="2304288" cy="74980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E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E14A"/>
                </a:solidFill>
                <a:latin typeface="Aptos Display"/>
              </a:rPr>
              <a:t>300</a:t>
            </a:r>
          </a:p>
        </p:txBody>
      </p:sp>
      <p:sp>
        <p:nvSpPr>
          <p:cNvPr id="31" name="Rounded Rectangle 30">
            <a:hlinkClick action="ppaction://hlinksldjump" r:id="rId14"/>
          </p:cNvPr>
          <p:cNvSpPr/>
          <p:nvPr/>
        </p:nvSpPr>
        <p:spPr>
          <a:xfrm>
            <a:off x="4709160" y="5833872"/>
            <a:ext cx="2770632" cy="502920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СЧЁТ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438912"/>
            <a:ext cx="109728" cy="109728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6309360"/>
            <a:ext cx="182880" cy="182880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6236208"/>
            <a:ext cx="91440" cy="91440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2920"/>
            <a:ext cx="73152" cy="73152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6355080"/>
            <a:ext cx="54864" cy="54864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438912"/>
            <a:ext cx="1828800" cy="73152"/>
          </a:xfrm>
          <a:prstGeom prst="roundRect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6382512"/>
            <a:ext cx="1783080" cy="73152"/>
          </a:xfrm>
          <a:prstGeom prst="roundRect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9319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32B8"/>
                </a:solidFill>
                <a:latin typeface="Aptos Display"/>
              </a:rPr>
              <a:t>СЧЁТ КОМАНД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115568"/>
            <a:ext cx="4846320" cy="640080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225296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7F6FF"/>
                </a:solidFill>
                <a:latin typeface="Aptos Display"/>
              </a:rPr>
              <a:t>КОМАНДА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19" y="1207008"/>
            <a:ext cx="777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E14A"/>
                </a:solidFill>
                <a:latin typeface="Aptos Display"/>
              </a:rP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115568"/>
            <a:ext cx="4846320" cy="640080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1225296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7F6FF"/>
                </a:solidFill>
                <a:latin typeface="Aptos Display"/>
              </a:rPr>
              <a:t>КОМАНДА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39" y="1207008"/>
            <a:ext cx="777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E14A"/>
                </a:solidFill>
                <a:latin typeface="Aptos Display"/>
              </a:rPr>
              <a:t>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2075688"/>
            <a:ext cx="4846320" cy="640080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2185416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7F6FF"/>
                </a:solidFill>
                <a:latin typeface="Aptos Display"/>
              </a:rPr>
              <a:t>КОМАНДА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19" y="2167128"/>
            <a:ext cx="777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E14A"/>
                </a:solidFill>
                <a:latin typeface="Aptos Display"/>
              </a:rPr>
              <a:t>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075688"/>
            <a:ext cx="4846320" cy="640080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185416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7F6FF"/>
                </a:solidFill>
                <a:latin typeface="Aptos Display"/>
              </a:rPr>
              <a:t>КОМАНДА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39" y="2167128"/>
            <a:ext cx="777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E14A"/>
                </a:solidFill>
                <a:latin typeface="Aptos Display"/>
              </a:rPr>
              <a:t>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035808"/>
            <a:ext cx="4846320" cy="640080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3145536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7F6FF"/>
                </a:solidFill>
                <a:latin typeface="Aptos Display"/>
              </a:rPr>
              <a:t>КОМАНДА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19" y="3127248"/>
            <a:ext cx="777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E14A"/>
                </a:solidFill>
                <a:latin typeface="Aptos Display"/>
              </a:rPr>
              <a:t>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035808"/>
            <a:ext cx="4846320" cy="640080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3145536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7F6FF"/>
                </a:solidFill>
                <a:latin typeface="Aptos Display"/>
              </a:rPr>
              <a:t>КОМАНДА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39" y="3127248"/>
            <a:ext cx="777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E14A"/>
                </a:solidFill>
                <a:latin typeface="Aptos Display"/>
              </a:rPr>
              <a:t>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3995928"/>
            <a:ext cx="4846320" cy="640080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105656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7F6FF"/>
                </a:solidFill>
                <a:latin typeface="Aptos Display"/>
              </a:rPr>
              <a:t>КОМАНДА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19" y="4087368"/>
            <a:ext cx="777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E14A"/>
                </a:solidFill>
                <a:latin typeface="Aptos Display"/>
              </a:rPr>
              <a:t>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995928"/>
            <a:ext cx="4846320" cy="640080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4105656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7F6FF"/>
                </a:solidFill>
                <a:latin typeface="Aptos Display"/>
              </a:rPr>
              <a:t>КОМАНДА 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39" y="4087368"/>
            <a:ext cx="777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E14A"/>
                </a:solidFill>
                <a:latin typeface="Aptos Display"/>
              </a:rPr>
              <a:t>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4956048"/>
            <a:ext cx="4846320" cy="640080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3272" y="5065776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7F6FF"/>
                </a:solidFill>
                <a:latin typeface="Aptos Display"/>
              </a:rPr>
              <a:t>КОМАНДА 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19" y="5047488"/>
            <a:ext cx="777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E14A"/>
                </a:solidFill>
                <a:latin typeface="Aptos Display"/>
              </a:rPr>
              <a:t>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956048"/>
            <a:ext cx="4846320" cy="640080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65392" y="5065776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7F6FF"/>
                </a:solidFill>
                <a:latin typeface="Aptos Display"/>
              </a:rPr>
              <a:t>КОМАНДА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39" y="5047488"/>
            <a:ext cx="777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E14A"/>
                </a:solidFill>
                <a:latin typeface="Aptos Display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6062472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B6AFDA"/>
                </a:solidFill>
                <a:latin typeface="Aptos Display"/>
              </a:rPr>
              <a:t>Чтобы изменить названия и баллы: кликните по тексту прямо на этом слайде.</a:t>
            </a:r>
          </a:p>
        </p:txBody>
      </p:sp>
      <p:sp>
        <p:nvSpPr>
          <p:cNvPr id="42" name="Rounded Rectangle 41">
            <a:hlinkClick action="ppaction://hlinksldjump" r:id="rId2"/>
          </p:cNvPr>
          <p:cNvSpPr/>
          <p:nvPr/>
        </p:nvSpPr>
        <p:spPr>
          <a:xfrm>
            <a:off x="502920" y="6199632"/>
            <a:ext cx="155448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43" name="Rounded Rectangle 42">
            <a:hlinkClick action="ppaction://hlinksldjump" r:id="rId3"/>
          </p:cNvPr>
          <p:cNvSpPr/>
          <p:nvPr/>
        </p:nvSpPr>
        <p:spPr>
          <a:xfrm>
            <a:off x="10040112" y="6199632"/>
            <a:ext cx="114300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СЧЁТ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438912"/>
            <a:ext cx="109728" cy="109728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6309360"/>
            <a:ext cx="182880" cy="182880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6236208"/>
            <a:ext cx="91440" cy="91440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2920"/>
            <a:ext cx="73152" cy="73152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6355080"/>
            <a:ext cx="54864" cy="54864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438912"/>
            <a:ext cx="1828800" cy="73152"/>
          </a:xfrm>
          <a:prstGeom prst="roundRect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6382512"/>
            <a:ext cx="1783080" cy="73152"/>
          </a:xfrm>
          <a:prstGeom prst="roundRect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32B8"/>
                </a:solidFill>
                <a:latin typeface="Aptos Display"/>
              </a:rPr>
              <a:t>ИМЕНИННИКИ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402336"/>
            <a:ext cx="1600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E14A"/>
                </a:solidFill>
                <a:latin typeface="Aptos Display"/>
              </a:rPr>
              <a:t>100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1417320"/>
            <a:ext cx="10259568" cy="3337560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1856231"/>
            <a:ext cx="9354312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7F6FF"/>
                </a:solidFill>
                <a:latin typeface="Aptos Display"/>
              </a:rPr>
              <a:t>Сколько лет сегодня каждому
из главных героев вечера?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5248656"/>
            <a:ext cx="35204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B6AFDA"/>
                </a:solidFill>
                <a:latin typeface="Aptos Display"/>
              </a:rPr>
              <a:t>Время пошло!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3950208" y="5687568"/>
            <a:ext cx="4297680" cy="47548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ПОКАЗАТЬ ОТВЕТ</a:t>
            </a:r>
          </a:p>
        </p:txBody>
      </p:sp>
      <p:sp>
        <p:nvSpPr>
          <p:cNvPr id="16" name="Rounded Rectangle 15">
            <a:hlinkClick action="ppaction://hlinksldjump" r:id="rId3"/>
          </p:cNvPr>
          <p:cNvSpPr/>
          <p:nvPr/>
        </p:nvSpPr>
        <p:spPr>
          <a:xfrm>
            <a:off x="502920" y="6199632"/>
            <a:ext cx="155448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7" name="Rounded Rectangle 16">
            <a:hlinkClick action="ppaction://hlinksldjump" r:id="rId4"/>
          </p:cNvPr>
          <p:cNvSpPr/>
          <p:nvPr/>
        </p:nvSpPr>
        <p:spPr>
          <a:xfrm>
            <a:off x="10040112" y="6199632"/>
            <a:ext cx="114300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СЧЁТ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3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438912"/>
            <a:ext cx="109728" cy="109728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6309360"/>
            <a:ext cx="182880" cy="182880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6236208"/>
            <a:ext cx="91440" cy="91440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2920"/>
            <a:ext cx="73152" cy="73152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6355080"/>
            <a:ext cx="54864" cy="54864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438912"/>
            <a:ext cx="1828800" cy="73152"/>
          </a:xfrm>
          <a:prstGeom prst="roundRect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6382512"/>
            <a:ext cx="1783080" cy="73152"/>
          </a:xfrm>
          <a:prstGeom prst="roundRect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DF5FF"/>
                </a:solidFill>
                <a:latin typeface="Aptos Display"/>
              </a:rPr>
              <a:t>ИМЕНИННИКИ  •  100 БАЛЛОВ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234440"/>
            <a:ext cx="105613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32B8"/>
                </a:solidFill>
                <a:latin typeface="Aptos Display"/>
              </a:rPr>
              <a:t>ОТВЕТ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1938528"/>
            <a:ext cx="9902952" cy="1243584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E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90472" y="2176272"/>
            <a:ext cx="9235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FFE14A"/>
                </a:solidFill>
                <a:latin typeface="Aptos Display"/>
              </a:rPr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22191"/>
            <a:ext cx="972007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F7F6FF"/>
                </a:solidFill>
                <a:latin typeface="Aptos Display"/>
              </a:rPr>
              <a:t>Точный ответ — 30. Аплодисменты обязательны!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4224528" y="5330952"/>
            <a:ext cx="3730752" cy="530352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502920" y="6199632"/>
            <a:ext cx="155448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7" name="Rounded Rectangle 16">
            <a:hlinkClick action="ppaction://hlinksldjump" r:id="rId3"/>
          </p:cNvPr>
          <p:cNvSpPr/>
          <p:nvPr/>
        </p:nvSpPr>
        <p:spPr>
          <a:xfrm>
            <a:off x="10040112" y="6199632"/>
            <a:ext cx="114300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СЧЁТ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438912"/>
            <a:ext cx="109728" cy="109728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6309360"/>
            <a:ext cx="182880" cy="182880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6236208"/>
            <a:ext cx="91440" cy="91440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2920"/>
            <a:ext cx="73152" cy="73152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6355080"/>
            <a:ext cx="54864" cy="54864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438912"/>
            <a:ext cx="1828800" cy="73152"/>
          </a:xfrm>
          <a:prstGeom prst="roundRect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6382512"/>
            <a:ext cx="1783080" cy="73152"/>
          </a:xfrm>
          <a:prstGeom prst="roundRect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32B8"/>
                </a:solidFill>
                <a:latin typeface="Aptos Display"/>
              </a:rPr>
              <a:t>ИМЕНИННИКИ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402336"/>
            <a:ext cx="1600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E14A"/>
                </a:solidFill>
                <a:latin typeface="Aptos Display"/>
              </a:rPr>
              <a:t>200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1417320"/>
            <a:ext cx="10259568" cy="3337560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1856231"/>
            <a:ext cx="9354312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7F6FF"/>
                </a:solidFill>
                <a:latin typeface="Aptos Display"/>
              </a:rPr>
              <a:t>Назовите имена дуэта,
ради которого мы сегодня собрались.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5248656"/>
            <a:ext cx="35204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B6AFDA"/>
                </a:solidFill>
                <a:latin typeface="Aptos Display"/>
              </a:rPr>
              <a:t>Время пошло!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3950208" y="5687568"/>
            <a:ext cx="4297680" cy="47548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ПОКАЗАТЬ ОТВЕТ</a:t>
            </a:r>
          </a:p>
        </p:txBody>
      </p:sp>
      <p:sp>
        <p:nvSpPr>
          <p:cNvPr id="16" name="Rounded Rectangle 15">
            <a:hlinkClick action="ppaction://hlinksldjump" r:id="rId3"/>
          </p:cNvPr>
          <p:cNvSpPr/>
          <p:nvPr/>
        </p:nvSpPr>
        <p:spPr>
          <a:xfrm>
            <a:off x="502920" y="6199632"/>
            <a:ext cx="155448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7" name="Rounded Rectangle 16">
            <a:hlinkClick action="ppaction://hlinksldjump" r:id="rId4"/>
          </p:cNvPr>
          <p:cNvSpPr/>
          <p:nvPr/>
        </p:nvSpPr>
        <p:spPr>
          <a:xfrm>
            <a:off x="10040112" y="6199632"/>
            <a:ext cx="114300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СЧЁТ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3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438912"/>
            <a:ext cx="109728" cy="109728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6309360"/>
            <a:ext cx="182880" cy="182880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6236208"/>
            <a:ext cx="91440" cy="91440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2920"/>
            <a:ext cx="73152" cy="73152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6355080"/>
            <a:ext cx="54864" cy="54864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438912"/>
            <a:ext cx="1828800" cy="73152"/>
          </a:xfrm>
          <a:prstGeom prst="roundRect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6382512"/>
            <a:ext cx="1783080" cy="73152"/>
          </a:xfrm>
          <a:prstGeom prst="roundRect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DF5FF"/>
                </a:solidFill>
                <a:latin typeface="Aptos Display"/>
              </a:rPr>
              <a:t>ИМЕНИННИКИ  •  200 БАЛЛОВ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234440"/>
            <a:ext cx="105613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32B8"/>
                </a:solidFill>
                <a:latin typeface="Aptos Display"/>
              </a:rPr>
              <a:t>ОТВЕТ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1938528"/>
            <a:ext cx="9902952" cy="1243584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E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90472" y="2176272"/>
            <a:ext cx="9235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FFE14A"/>
                </a:solidFill>
                <a:latin typeface="Aptos Display"/>
              </a:rPr>
              <a:t>Влад и Алла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22191"/>
            <a:ext cx="972007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F7F6FF"/>
                </a:solidFill>
                <a:latin typeface="Aptos Display"/>
              </a:rPr>
              <a:t>Влад и Алла — звёзды этого вечера.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4224528" y="5330952"/>
            <a:ext cx="3730752" cy="530352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502920" y="6199632"/>
            <a:ext cx="155448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7" name="Rounded Rectangle 16">
            <a:hlinkClick action="ppaction://hlinksldjump" r:id="rId3"/>
          </p:cNvPr>
          <p:cNvSpPr/>
          <p:nvPr/>
        </p:nvSpPr>
        <p:spPr>
          <a:xfrm>
            <a:off x="10040112" y="6199632"/>
            <a:ext cx="114300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СЧЁТ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438912"/>
            <a:ext cx="109728" cy="109728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6309360"/>
            <a:ext cx="182880" cy="182880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6236208"/>
            <a:ext cx="91440" cy="91440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2920"/>
            <a:ext cx="73152" cy="73152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6355080"/>
            <a:ext cx="54864" cy="54864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438912"/>
            <a:ext cx="1828800" cy="73152"/>
          </a:xfrm>
          <a:prstGeom prst="roundRect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6382512"/>
            <a:ext cx="1783080" cy="73152"/>
          </a:xfrm>
          <a:prstGeom prst="roundRect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32B8"/>
                </a:solidFill>
                <a:latin typeface="Aptos Display"/>
              </a:rPr>
              <a:t>ИМЕНИННИКИ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402336"/>
            <a:ext cx="1600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E14A"/>
                </a:solidFill>
                <a:latin typeface="Aptos Display"/>
              </a:rPr>
              <a:t>300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1417320"/>
            <a:ext cx="10259568" cy="3337560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1856231"/>
            <a:ext cx="9354312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7F6FF"/>
                </a:solidFill>
                <a:latin typeface="Aptos Display"/>
              </a:rPr>
              <a:t>Придумайте тост для Влада и Аллы,
не используя слова «счастье» и «здоровье».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5248656"/>
            <a:ext cx="35204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B6AFDA"/>
                </a:solidFill>
                <a:latin typeface="Aptos Display"/>
              </a:rPr>
              <a:t>Время пошло!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3950208" y="5687568"/>
            <a:ext cx="4297680" cy="47548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ПОКАЗАТЬ ОТВЕТ</a:t>
            </a:r>
          </a:p>
        </p:txBody>
      </p:sp>
      <p:sp>
        <p:nvSpPr>
          <p:cNvPr id="16" name="Rounded Rectangle 15">
            <a:hlinkClick action="ppaction://hlinksldjump" r:id="rId3"/>
          </p:cNvPr>
          <p:cNvSpPr/>
          <p:nvPr/>
        </p:nvSpPr>
        <p:spPr>
          <a:xfrm>
            <a:off x="502920" y="6199632"/>
            <a:ext cx="155448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7" name="Rounded Rectangle 16">
            <a:hlinkClick action="ppaction://hlinksldjump" r:id="rId4"/>
          </p:cNvPr>
          <p:cNvSpPr/>
          <p:nvPr/>
        </p:nvSpPr>
        <p:spPr>
          <a:xfrm>
            <a:off x="10040112" y="6199632"/>
            <a:ext cx="114300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СЧЁТ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3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438912"/>
            <a:ext cx="109728" cy="109728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6309360"/>
            <a:ext cx="182880" cy="182880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6236208"/>
            <a:ext cx="91440" cy="91440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2920"/>
            <a:ext cx="73152" cy="73152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6355080"/>
            <a:ext cx="54864" cy="54864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438912"/>
            <a:ext cx="1828800" cy="73152"/>
          </a:xfrm>
          <a:prstGeom prst="roundRect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6382512"/>
            <a:ext cx="1783080" cy="73152"/>
          </a:xfrm>
          <a:prstGeom prst="roundRect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DF5FF"/>
                </a:solidFill>
                <a:latin typeface="Aptos Display"/>
              </a:rPr>
              <a:t>ИМЕНИННИКИ  •  300 БАЛЛОВ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234440"/>
            <a:ext cx="105613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32B8"/>
                </a:solidFill>
                <a:latin typeface="Aptos Display"/>
              </a:rPr>
              <a:t>ОТВЕТ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1938528"/>
            <a:ext cx="9902952" cy="1243584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E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90472" y="2176272"/>
            <a:ext cx="9235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FFE14A"/>
                </a:solidFill>
                <a:latin typeface="Aptos Display"/>
              </a:rPr>
              <a:t>Творческий раунд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22191"/>
            <a:ext cx="972007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F7F6FF"/>
                </a:solidFill>
                <a:latin typeface="Aptos Display"/>
              </a:rPr>
              <a:t>Любой тост, который рассмешит или растрогает именинников, приносит баллы.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4224528" y="5330952"/>
            <a:ext cx="3730752" cy="530352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502920" y="6199632"/>
            <a:ext cx="155448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7" name="Rounded Rectangle 16">
            <a:hlinkClick action="ppaction://hlinksldjump" r:id="rId3"/>
          </p:cNvPr>
          <p:cNvSpPr/>
          <p:nvPr/>
        </p:nvSpPr>
        <p:spPr>
          <a:xfrm>
            <a:off x="10040112" y="6199632"/>
            <a:ext cx="114300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СЧЁТ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438912"/>
            <a:ext cx="109728" cy="109728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6309360"/>
            <a:ext cx="182880" cy="182880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6236208"/>
            <a:ext cx="91440" cy="91440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2920"/>
            <a:ext cx="73152" cy="73152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6355080"/>
            <a:ext cx="54864" cy="54864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438912"/>
            <a:ext cx="1828800" cy="73152"/>
          </a:xfrm>
          <a:prstGeom prst="roundRect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6382512"/>
            <a:ext cx="1783080" cy="73152"/>
          </a:xfrm>
          <a:prstGeom prst="roundRect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32B8"/>
                </a:solidFill>
                <a:latin typeface="Aptos Display"/>
              </a:rPr>
              <a:t>ТАНЦПОЛ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402336"/>
            <a:ext cx="1600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E14A"/>
                </a:solidFill>
                <a:latin typeface="Aptos Display"/>
              </a:rPr>
              <a:t>100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1417320"/>
            <a:ext cx="10259568" cy="3337560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1856231"/>
            <a:ext cx="9354312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7F6FF"/>
                </a:solidFill>
                <a:latin typeface="Aptos Display"/>
              </a:rPr>
              <a:t>Как называется знаменитое движение,
когда кажется, что танцор скользит назад?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5248656"/>
            <a:ext cx="35204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B6AFDA"/>
                </a:solidFill>
                <a:latin typeface="Aptos Display"/>
              </a:rPr>
              <a:t>Время пошло!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3950208" y="5687568"/>
            <a:ext cx="4297680" cy="47548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ПОКАЗАТЬ ОТВЕТ</a:t>
            </a:r>
          </a:p>
        </p:txBody>
      </p:sp>
      <p:sp>
        <p:nvSpPr>
          <p:cNvPr id="16" name="Rounded Rectangle 15">
            <a:hlinkClick action="ppaction://hlinksldjump" r:id="rId3"/>
          </p:cNvPr>
          <p:cNvSpPr/>
          <p:nvPr/>
        </p:nvSpPr>
        <p:spPr>
          <a:xfrm>
            <a:off x="502920" y="6199632"/>
            <a:ext cx="155448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7" name="Rounded Rectangle 16">
            <a:hlinkClick action="ppaction://hlinksldjump" r:id="rId4"/>
          </p:cNvPr>
          <p:cNvSpPr/>
          <p:nvPr/>
        </p:nvSpPr>
        <p:spPr>
          <a:xfrm>
            <a:off x="10040112" y="6199632"/>
            <a:ext cx="114300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СЧЁТ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3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438912"/>
            <a:ext cx="109728" cy="109728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6309360"/>
            <a:ext cx="182880" cy="182880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6236208"/>
            <a:ext cx="91440" cy="91440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2920"/>
            <a:ext cx="73152" cy="73152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6355080"/>
            <a:ext cx="54864" cy="54864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438912"/>
            <a:ext cx="1828800" cy="73152"/>
          </a:xfrm>
          <a:prstGeom prst="roundRect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6382512"/>
            <a:ext cx="1783080" cy="73152"/>
          </a:xfrm>
          <a:prstGeom prst="roundRect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DF5FF"/>
                </a:solidFill>
                <a:latin typeface="Aptos Display"/>
              </a:rPr>
              <a:t>ТАНЦПОЛ  •  100 БАЛЛОВ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234440"/>
            <a:ext cx="105613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32B8"/>
                </a:solidFill>
                <a:latin typeface="Aptos Display"/>
              </a:rPr>
              <a:t>ОТВЕТ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1938528"/>
            <a:ext cx="9902952" cy="1243584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E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90472" y="2176272"/>
            <a:ext cx="9235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FFE14A"/>
                </a:solidFill>
                <a:latin typeface="Aptos Display"/>
              </a:rPr>
              <a:t>Лунная походка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22191"/>
            <a:ext cx="972007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F7F6FF"/>
                </a:solidFill>
                <a:latin typeface="Aptos Display"/>
              </a:rPr>
              <a:t>Лунная походка! Можно показать для двойных аплодисментов.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4224528" y="5330952"/>
            <a:ext cx="3730752" cy="530352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502920" y="6199632"/>
            <a:ext cx="155448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7" name="Rounded Rectangle 16">
            <a:hlinkClick action="ppaction://hlinksldjump" r:id="rId3"/>
          </p:cNvPr>
          <p:cNvSpPr/>
          <p:nvPr/>
        </p:nvSpPr>
        <p:spPr>
          <a:xfrm>
            <a:off x="10040112" y="6199632"/>
            <a:ext cx="114300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СЧЁТ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438912"/>
            <a:ext cx="109728" cy="109728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6309360"/>
            <a:ext cx="182880" cy="182880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6236208"/>
            <a:ext cx="91440" cy="91440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2920"/>
            <a:ext cx="73152" cy="73152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6355080"/>
            <a:ext cx="54864" cy="54864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438912"/>
            <a:ext cx="1828800" cy="73152"/>
          </a:xfrm>
          <a:prstGeom prst="roundRect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6382512"/>
            <a:ext cx="1783080" cy="73152"/>
          </a:xfrm>
          <a:prstGeom prst="roundRect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32B8"/>
                </a:solidFill>
                <a:latin typeface="Aptos Display"/>
              </a:rPr>
              <a:t>ТАНЦПОЛ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402336"/>
            <a:ext cx="1600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E14A"/>
                </a:solidFill>
                <a:latin typeface="Aptos Display"/>
              </a:rPr>
              <a:t>200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1417320"/>
            <a:ext cx="10259568" cy="3337560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1856231"/>
            <a:ext cx="9354312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7F6FF"/>
                </a:solidFill>
                <a:latin typeface="Aptos Display"/>
              </a:rPr>
              <a:t>Назовите песню, под которую ваша команда
готова выйти на танцпол прямо сейчас.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5248656"/>
            <a:ext cx="35204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B6AFDA"/>
                </a:solidFill>
                <a:latin typeface="Aptos Display"/>
              </a:rPr>
              <a:t>Время пошло!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3950208" y="5687568"/>
            <a:ext cx="4297680" cy="47548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ПОКАЗАТЬ ОТВЕТ</a:t>
            </a:r>
          </a:p>
        </p:txBody>
      </p:sp>
      <p:sp>
        <p:nvSpPr>
          <p:cNvPr id="16" name="Rounded Rectangle 15">
            <a:hlinkClick action="ppaction://hlinksldjump" r:id="rId3"/>
          </p:cNvPr>
          <p:cNvSpPr/>
          <p:nvPr/>
        </p:nvSpPr>
        <p:spPr>
          <a:xfrm>
            <a:off x="502920" y="6199632"/>
            <a:ext cx="155448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7" name="Rounded Rectangle 16">
            <a:hlinkClick action="ppaction://hlinksldjump" r:id="rId4"/>
          </p:cNvPr>
          <p:cNvSpPr/>
          <p:nvPr/>
        </p:nvSpPr>
        <p:spPr>
          <a:xfrm>
            <a:off x="10040112" y="6199632"/>
            <a:ext cx="114300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СЧЁТ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3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438912"/>
            <a:ext cx="109728" cy="109728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6309360"/>
            <a:ext cx="182880" cy="182880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6236208"/>
            <a:ext cx="91440" cy="91440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2920"/>
            <a:ext cx="73152" cy="73152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6355080"/>
            <a:ext cx="54864" cy="54864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438912"/>
            <a:ext cx="1828800" cy="73152"/>
          </a:xfrm>
          <a:prstGeom prst="roundRect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6382512"/>
            <a:ext cx="1783080" cy="73152"/>
          </a:xfrm>
          <a:prstGeom prst="roundRect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DF5FF"/>
                </a:solidFill>
                <a:latin typeface="Aptos Display"/>
              </a:rPr>
              <a:t>ТАНЦПОЛ  •  200 БАЛЛОВ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234440"/>
            <a:ext cx="105613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32B8"/>
                </a:solidFill>
                <a:latin typeface="Aptos Display"/>
              </a:rPr>
              <a:t>ОТВЕТ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1938528"/>
            <a:ext cx="9902952" cy="1243584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E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90472" y="2176272"/>
            <a:ext cx="9235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FFE14A"/>
                </a:solidFill>
                <a:latin typeface="Aptos Display"/>
              </a:rPr>
              <a:t>Творческий раунд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22191"/>
            <a:ext cx="972007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F7F6FF"/>
                </a:solidFill>
                <a:latin typeface="Aptos Display"/>
              </a:rPr>
              <a:t>Подходит любая песня — команда объясняет выбор за 10 секунд.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4224528" y="5330952"/>
            <a:ext cx="3730752" cy="530352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502920" y="6199632"/>
            <a:ext cx="155448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7" name="Rounded Rectangle 16">
            <a:hlinkClick action="ppaction://hlinksldjump" r:id="rId3"/>
          </p:cNvPr>
          <p:cNvSpPr/>
          <p:nvPr/>
        </p:nvSpPr>
        <p:spPr>
          <a:xfrm>
            <a:off x="10040112" y="6199632"/>
            <a:ext cx="114300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СЧЁТ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438912"/>
            <a:ext cx="109728" cy="109728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6309360"/>
            <a:ext cx="182880" cy="182880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6236208"/>
            <a:ext cx="91440" cy="91440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2920"/>
            <a:ext cx="73152" cy="73152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6355080"/>
            <a:ext cx="54864" cy="54864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438912"/>
            <a:ext cx="1828800" cy="73152"/>
          </a:xfrm>
          <a:prstGeom prst="roundRect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6382512"/>
            <a:ext cx="1783080" cy="73152"/>
          </a:xfrm>
          <a:prstGeom prst="roundRect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32B8"/>
                </a:solidFill>
                <a:latin typeface="Aptos Display"/>
              </a:rPr>
              <a:t>ТАНЦПОЛ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402336"/>
            <a:ext cx="1600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E14A"/>
                </a:solidFill>
                <a:latin typeface="Aptos Display"/>
              </a:rPr>
              <a:t>300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1417320"/>
            <a:ext cx="10259568" cy="3337560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1856231"/>
            <a:ext cx="9354312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7F6FF"/>
                </a:solidFill>
                <a:latin typeface="Aptos Display"/>
              </a:rPr>
              <a:t>Покажите без слов танец человека,
который нашёл идеальный подарок.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5248656"/>
            <a:ext cx="35204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B6AFDA"/>
                </a:solidFill>
                <a:latin typeface="Aptos Display"/>
              </a:rPr>
              <a:t>Время пошло!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3950208" y="5687568"/>
            <a:ext cx="4297680" cy="47548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ПОКАЗАТЬ ОТВЕТ</a:t>
            </a:r>
          </a:p>
        </p:txBody>
      </p:sp>
      <p:sp>
        <p:nvSpPr>
          <p:cNvPr id="16" name="Rounded Rectangle 15">
            <a:hlinkClick action="ppaction://hlinksldjump" r:id="rId3"/>
          </p:cNvPr>
          <p:cNvSpPr/>
          <p:nvPr/>
        </p:nvSpPr>
        <p:spPr>
          <a:xfrm>
            <a:off x="502920" y="6199632"/>
            <a:ext cx="155448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7" name="Rounded Rectangle 16">
            <a:hlinkClick action="ppaction://hlinksldjump" r:id="rId4"/>
          </p:cNvPr>
          <p:cNvSpPr/>
          <p:nvPr/>
        </p:nvSpPr>
        <p:spPr>
          <a:xfrm>
            <a:off x="10040112" y="6199632"/>
            <a:ext cx="114300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СЧЁТ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3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438912"/>
            <a:ext cx="109728" cy="109728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6309360"/>
            <a:ext cx="182880" cy="182880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6236208"/>
            <a:ext cx="91440" cy="91440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2920"/>
            <a:ext cx="73152" cy="73152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6355080"/>
            <a:ext cx="54864" cy="54864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438912"/>
            <a:ext cx="1828800" cy="73152"/>
          </a:xfrm>
          <a:prstGeom prst="roundRect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6382512"/>
            <a:ext cx="1783080" cy="73152"/>
          </a:xfrm>
          <a:prstGeom prst="roundRect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DF5FF"/>
                </a:solidFill>
                <a:latin typeface="Aptos Display"/>
              </a:rPr>
              <a:t>ТАНЦПОЛ  •  300 БАЛЛОВ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234440"/>
            <a:ext cx="105613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32B8"/>
                </a:solidFill>
                <a:latin typeface="Aptos Display"/>
              </a:rPr>
              <a:t>ОТВЕТ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1938528"/>
            <a:ext cx="9902952" cy="1243584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E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90472" y="2176272"/>
            <a:ext cx="9235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FFE14A"/>
                </a:solidFill>
                <a:latin typeface="Aptos Display"/>
              </a:rPr>
              <a:t>Пантомима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22191"/>
            <a:ext cx="972007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F7F6FF"/>
                </a:solidFill>
                <a:latin typeface="Aptos Display"/>
              </a:rPr>
              <a:t>Остальные команды угадывают. Самое точное или смешное исполнение получает баллы.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4224528" y="5330952"/>
            <a:ext cx="3730752" cy="530352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502920" y="6199632"/>
            <a:ext cx="155448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7" name="Rounded Rectangle 16">
            <a:hlinkClick action="ppaction://hlinksldjump" r:id="rId3"/>
          </p:cNvPr>
          <p:cNvSpPr/>
          <p:nvPr/>
        </p:nvSpPr>
        <p:spPr>
          <a:xfrm>
            <a:off x="10040112" y="6199632"/>
            <a:ext cx="114300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СЧЁТ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438912"/>
            <a:ext cx="109728" cy="109728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6309360"/>
            <a:ext cx="182880" cy="182880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6236208"/>
            <a:ext cx="91440" cy="91440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2920"/>
            <a:ext cx="73152" cy="73152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6355080"/>
            <a:ext cx="54864" cy="54864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438912"/>
            <a:ext cx="1828800" cy="73152"/>
          </a:xfrm>
          <a:prstGeom prst="roundRect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6382512"/>
            <a:ext cx="1783080" cy="73152"/>
          </a:xfrm>
          <a:prstGeom prst="roundRect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32B8"/>
                </a:solidFill>
                <a:latin typeface="Aptos Display"/>
              </a:rPr>
              <a:t>КИНО ВЕЧЕРА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402336"/>
            <a:ext cx="1600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E14A"/>
                </a:solidFill>
                <a:latin typeface="Aptos Display"/>
              </a:rPr>
              <a:t>100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1417320"/>
            <a:ext cx="10259568" cy="3337560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1856231"/>
            <a:ext cx="9354312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7F6FF"/>
                </a:solidFill>
                <a:latin typeface="Aptos Display"/>
              </a:rPr>
              <a:t>Что обычно делают в зале,
когда начинается киносеанс?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5248656"/>
            <a:ext cx="35204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B6AFDA"/>
                </a:solidFill>
                <a:latin typeface="Aptos Display"/>
              </a:rPr>
              <a:t>Время пошло!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3950208" y="5687568"/>
            <a:ext cx="4297680" cy="47548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ПОКАЗАТЬ ОТВЕТ</a:t>
            </a:r>
          </a:p>
        </p:txBody>
      </p:sp>
      <p:sp>
        <p:nvSpPr>
          <p:cNvPr id="16" name="Rounded Rectangle 15">
            <a:hlinkClick action="ppaction://hlinksldjump" r:id="rId3"/>
          </p:cNvPr>
          <p:cNvSpPr/>
          <p:nvPr/>
        </p:nvSpPr>
        <p:spPr>
          <a:xfrm>
            <a:off x="502920" y="6199632"/>
            <a:ext cx="155448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7" name="Rounded Rectangle 16">
            <a:hlinkClick action="ppaction://hlinksldjump" r:id="rId4"/>
          </p:cNvPr>
          <p:cNvSpPr/>
          <p:nvPr/>
        </p:nvSpPr>
        <p:spPr>
          <a:xfrm>
            <a:off x="10040112" y="6199632"/>
            <a:ext cx="114300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СЧЁТ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3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438912"/>
            <a:ext cx="109728" cy="109728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6309360"/>
            <a:ext cx="182880" cy="182880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6236208"/>
            <a:ext cx="91440" cy="91440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2920"/>
            <a:ext cx="73152" cy="73152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6355080"/>
            <a:ext cx="54864" cy="54864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438912"/>
            <a:ext cx="1828800" cy="73152"/>
          </a:xfrm>
          <a:prstGeom prst="roundRect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6382512"/>
            <a:ext cx="1783080" cy="73152"/>
          </a:xfrm>
          <a:prstGeom prst="roundRect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DF5FF"/>
                </a:solidFill>
                <a:latin typeface="Aptos Display"/>
              </a:rPr>
              <a:t>КИНО ВЕЧЕРА  •  100 БАЛЛОВ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234440"/>
            <a:ext cx="105613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32B8"/>
                </a:solidFill>
                <a:latin typeface="Aptos Display"/>
              </a:rPr>
              <a:t>ОТВЕТ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1938528"/>
            <a:ext cx="9902952" cy="1243584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E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90472" y="2176272"/>
            <a:ext cx="9235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FFE14A"/>
                </a:solidFill>
                <a:latin typeface="Aptos Display"/>
              </a:rPr>
              <a:t>Выключают свет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22191"/>
            <a:ext cx="972007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F7F6FF"/>
                </a:solidFill>
                <a:latin typeface="Aptos Display"/>
              </a:rPr>
              <a:t>Выключают свет — и внимание на экран.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4224528" y="5330952"/>
            <a:ext cx="3730752" cy="530352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502920" y="6199632"/>
            <a:ext cx="155448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7" name="Rounded Rectangle 16">
            <a:hlinkClick action="ppaction://hlinksldjump" r:id="rId3"/>
          </p:cNvPr>
          <p:cNvSpPr/>
          <p:nvPr/>
        </p:nvSpPr>
        <p:spPr>
          <a:xfrm>
            <a:off x="10040112" y="6199632"/>
            <a:ext cx="114300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СЧЁТ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438912"/>
            <a:ext cx="109728" cy="109728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6309360"/>
            <a:ext cx="182880" cy="182880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6236208"/>
            <a:ext cx="91440" cy="91440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2920"/>
            <a:ext cx="73152" cy="73152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6355080"/>
            <a:ext cx="54864" cy="54864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438912"/>
            <a:ext cx="1828800" cy="73152"/>
          </a:xfrm>
          <a:prstGeom prst="roundRect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6382512"/>
            <a:ext cx="1783080" cy="73152"/>
          </a:xfrm>
          <a:prstGeom prst="roundRect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32B8"/>
                </a:solidFill>
                <a:latin typeface="Aptos Display"/>
              </a:rPr>
              <a:t>КИНО ВЕЧЕРА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402336"/>
            <a:ext cx="1600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E14A"/>
                </a:solidFill>
                <a:latin typeface="Aptos Display"/>
              </a:rPr>
              <a:t>200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1417320"/>
            <a:ext cx="10259568" cy="3337560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1856231"/>
            <a:ext cx="9354312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7F6FF"/>
                </a:solidFill>
                <a:latin typeface="Aptos Display"/>
              </a:rPr>
              <a:t>Продолжите крылатую фразу:
«Я вернусь...»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5248656"/>
            <a:ext cx="35204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B6AFDA"/>
                </a:solidFill>
                <a:latin typeface="Aptos Display"/>
              </a:rPr>
              <a:t>Время пошло!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3950208" y="5687568"/>
            <a:ext cx="4297680" cy="47548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ПОКАЗАТЬ ОТВЕТ</a:t>
            </a:r>
          </a:p>
        </p:txBody>
      </p:sp>
      <p:sp>
        <p:nvSpPr>
          <p:cNvPr id="16" name="Rounded Rectangle 15">
            <a:hlinkClick action="ppaction://hlinksldjump" r:id="rId3"/>
          </p:cNvPr>
          <p:cNvSpPr/>
          <p:nvPr/>
        </p:nvSpPr>
        <p:spPr>
          <a:xfrm>
            <a:off x="502920" y="6199632"/>
            <a:ext cx="155448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7" name="Rounded Rectangle 16">
            <a:hlinkClick action="ppaction://hlinksldjump" r:id="rId4"/>
          </p:cNvPr>
          <p:cNvSpPr/>
          <p:nvPr/>
        </p:nvSpPr>
        <p:spPr>
          <a:xfrm>
            <a:off x="10040112" y="6199632"/>
            <a:ext cx="114300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СЧЁТ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3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438912"/>
            <a:ext cx="109728" cy="109728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6309360"/>
            <a:ext cx="182880" cy="182880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6236208"/>
            <a:ext cx="91440" cy="91440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2920"/>
            <a:ext cx="73152" cy="73152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6355080"/>
            <a:ext cx="54864" cy="54864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438912"/>
            <a:ext cx="1828800" cy="73152"/>
          </a:xfrm>
          <a:prstGeom prst="roundRect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6382512"/>
            <a:ext cx="1783080" cy="73152"/>
          </a:xfrm>
          <a:prstGeom prst="roundRect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DF5FF"/>
                </a:solidFill>
                <a:latin typeface="Aptos Display"/>
              </a:rPr>
              <a:t>КИНО ВЕЧЕРА  •  200 БАЛЛОВ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234440"/>
            <a:ext cx="105613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32B8"/>
                </a:solidFill>
                <a:latin typeface="Aptos Display"/>
              </a:rPr>
              <a:t>ОТВЕТ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1938528"/>
            <a:ext cx="9902952" cy="1243584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E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90472" y="2176272"/>
            <a:ext cx="9235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FFE14A"/>
                </a:solidFill>
                <a:latin typeface="Aptos Display"/>
              </a:rPr>
              <a:t>«...и продолжу банкет»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22191"/>
            <a:ext cx="972007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F7F6FF"/>
                </a:solidFill>
                <a:latin typeface="Aptos Display"/>
              </a:rPr>
              <a:t>Засчитывается любой бодрый вариант. Классика — «Я вернусь!»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4224528" y="5330952"/>
            <a:ext cx="3730752" cy="530352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502920" y="6199632"/>
            <a:ext cx="155448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7" name="Rounded Rectangle 16">
            <a:hlinkClick action="ppaction://hlinksldjump" r:id="rId3"/>
          </p:cNvPr>
          <p:cNvSpPr/>
          <p:nvPr/>
        </p:nvSpPr>
        <p:spPr>
          <a:xfrm>
            <a:off x="10040112" y="6199632"/>
            <a:ext cx="114300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СЧЁТ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438912"/>
            <a:ext cx="109728" cy="109728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6309360"/>
            <a:ext cx="182880" cy="182880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6236208"/>
            <a:ext cx="91440" cy="91440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2920"/>
            <a:ext cx="73152" cy="73152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6355080"/>
            <a:ext cx="54864" cy="54864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438912"/>
            <a:ext cx="1828800" cy="73152"/>
          </a:xfrm>
          <a:prstGeom prst="roundRect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6382512"/>
            <a:ext cx="1783080" cy="73152"/>
          </a:xfrm>
          <a:prstGeom prst="roundRect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32B8"/>
                </a:solidFill>
                <a:latin typeface="Aptos Display"/>
              </a:rPr>
              <a:t>КИНО ВЕЧЕРА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402336"/>
            <a:ext cx="1600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E14A"/>
                </a:solidFill>
                <a:latin typeface="Aptos Display"/>
              </a:rPr>
              <a:t>300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1417320"/>
            <a:ext cx="10259568" cy="3337560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1856231"/>
            <a:ext cx="9354312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7F6FF"/>
                </a:solidFill>
                <a:latin typeface="Aptos Display"/>
              </a:rPr>
              <a:t>Придумайте название фильма
о сегодняшнем дне рождения.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5248656"/>
            <a:ext cx="35204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B6AFDA"/>
                </a:solidFill>
                <a:latin typeface="Aptos Display"/>
              </a:rPr>
              <a:t>Время пошло!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3950208" y="5687568"/>
            <a:ext cx="4297680" cy="47548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ПОКАЗАТЬ ОТВЕТ</a:t>
            </a:r>
          </a:p>
        </p:txBody>
      </p:sp>
      <p:sp>
        <p:nvSpPr>
          <p:cNvPr id="16" name="Rounded Rectangle 15">
            <a:hlinkClick action="ppaction://hlinksldjump" r:id="rId3"/>
          </p:cNvPr>
          <p:cNvSpPr/>
          <p:nvPr/>
        </p:nvSpPr>
        <p:spPr>
          <a:xfrm>
            <a:off x="502920" y="6199632"/>
            <a:ext cx="155448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7" name="Rounded Rectangle 16">
            <a:hlinkClick action="ppaction://hlinksldjump" r:id="rId4"/>
          </p:cNvPr>
          <p:cNvSpPr/>
          <p:nvPr/>
        </p:nvSpPr>
        <p:spPr>
          <a:xfrm>
            <a:off x="10040112" y="6199632"/>
            <a:ext cx="114300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СЧЁТ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3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438912"/>
            <a:ext cx="109728" cy="109728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6309360"/>
            <a:ext cx="182880" cy="182880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6236208"/>
            <a:ext cx="91440" cy="91440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2920"/>
            <a:ext cx="73152" cy="73152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6355080"/>
            <a:ext cx="54864" cy="54864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438912"/>
            <a:ext cx="1828800" cy="73152"/>
          </a:xfrm>
          <a:prstGeom prst="roundRect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6382512"/>
            <a:ext cx="1783080" cy="73152"/>
          </a:xfrm>
          <a:prstGeom prst="roundRect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DF5FF"/>
                </a:solidFill>
                <a:latin typeface="Aptos Display"/>
              </a:rPr>
              <a:t>КИНО ВЕЧЕРА  •  300 БАЛЛОВ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234440"/>
            <a:ext cx="105613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32B8"/>
                </a:solidFill>
                <a:latin typeface="Aptos Display"/>
              </a:rPr>
              <a:t>ОТВЕТ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1938528"/>
            <a:ext cx="9902952" cy="1243584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E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90472" y="2176272"/>
            <a:ext cx="9235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FFE14A"/>
                </a:solidFill>
                <a:latin typeface="Aptos Display"/>
              </a:rPr>
              <a:t>Творческий раунд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22191"/>
            <a:ext cx="972007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F7F6FF"/>
                </a:solidFill>
                <a:latin typeface="Aptos Display"/>
              </a:rPr>
              <a:t>Самое афишное название выбирают именинники.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4224528" y="5330952"/>
            <a:ext cx="3730752" cy="530352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502920" y="6199632"/>
            <a:ext cx="155448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7" name="Rounded Rectangle 16">
            <a:hlinkClick action="ppaction://hlinksldjump" r:id="rId3"/>
          </p:cNvPr>
          <p:cNvSpPr/>
          <p:nvPr/>
        </p:nvSpPr>
        <p:spPr>
          <a:xfrm>
            <a:off x="10040112" y="6199632"/>
            <a:ext cx="114300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СЧЁТ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438912"/>
            <a:ext cx="109728" cy="109728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6309360"/>
            <a:ext cx="182880" cy="182880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6236208"/>
            <a:ext cx="91440" cy="91440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2920"/>
            <a:ext cx="73152" cy="73152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6355080"/>
            <a:ext cx="54864" cy="54864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438912"/>
            <a:ext cx="1828800" cy="73152"/>
          </a:xfrm>
          <a:prstGeom prst="roundRect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6382512"/>
            <a:ext cx="1783080" cy="73152"/>
          </a:xfrm>
          <a:prstGeom prst="roundRect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32B8"/>
                </a:solidFill>
                <a:latin typeface="Aptos Display"/>
              </a:rPr>
              <a:t>НА ВКУС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402336"/>
            <a:ext cx="1600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E14A"/>
                </a:solidFill>
                <a:latin typeface="Aptos Display"/>
              </a:rPr>
              <a:t>100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1417320"/>
            <a:ext cx="10259568" cy="3337560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1856231"/>
            <a:ext cx="9354312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7F6FF"/>
                </a:solidFill>
                <a:latin typeface="Aptos Display"/>
              </a:rPr>
              <a:t>Какой ингредиент точно не помешает
идеальному праздничному угощению?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5248656"/>
            <a:ext cx="35204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B6AFDA"/>
                </a:solidFill>
                <a:latin typeface="Aptos Display"/>
              </a:rPr>
              <a:t>Время пошло!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3950208" y="5687568"/>
            <a:ext cx="4297680" cy="47548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ПОКАЗАТЬ ОТВЕТ</a:t>
            </a:r>
          </a:p>
        </p:txBody>
      </p:sp>
      <p:sp>
        <p:nvSpPr>
          <p:cNvPr id="16" name="Rounded Rectangle 15">
            <a:hlinkClick action="ppaction://hlinksldjump" r:id="rId3"/>
          </p:cNvPr>
          <p:cNvSpPr/>
          <p:nvPr/>
        </p:nvSpPr>
        <p:spPr>
          <a:xfrm>
            <a:off x="502920" y="6199632"/>
            <a:ext cx="155448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7" name="Rounded Rectangle 16">
            <a:hlinkClick action="ppaction://hlinksldjump" r:id="rId4"/>
          </p:cNvPr>
          <p:cNvSpPr/>
          <p:nvPr/>
        </p:nvSpPr>
        <p:spPr>
          <a:xfrm>
            <a:off x="10040112" y="6199632"/>
            <a:ext cx="114300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СЧЁТ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3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438912"/>
            <a:ext cx="109728" cy="109728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6309360"/>
            <a:ext cx="182880" cy="182880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6236208"/>
            <a:ext cx="91440" cy="91440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2920"/>
            <a:ext cx="73152" cy="73152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6355080"/>
            <a:ext cx="54864" cy="54864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438912"/>
            <a:ext cx="1828800" cy="73152"/>
          </a:xfrm>
          <a:prstGeom prst="roundRect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6382512"/>
            <a:ext cx="1783080" cy="73152"/>
          </a:xfrm>
          <a:prstGeom prst="roundRect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DF5FF"/>
                </a:solidFill>
                <a:latin typeface="Aptos Display"/>
              </a:rPr>
              <a:t>НА ВКУС  •  100 БАЛЛОВ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234440"/>
            <a:ext cx="105613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32B8"/>
                </a:solidFill>
                <a:latin typeface="Aptos Display"/>
              </a:rPr>
              <a:t>ОТВЕТ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1938528"/>
            <a:ext cx="9902952" cy="1243584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E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90472" y="2176272"/>
            <a:ext cx="9235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FFE14A"/>
                </a:solidFill>
                <a:latin typeface="Aptos Display"/>
              </a:rPr>
              <a:t>Настроение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22191"/>
            <a:ext cx="972007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F7F6FF"/>
                </a:solidFill>
                <a:latin typeface="Aptos Display"/>
              </a:rPr>
              <a:t>Верный ответ — настроение. А остальное можно заказать.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4224528" y="5330952"/>
            <a:ext cx="3730752" cy="530352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502920" y="6199632"/>
            <a:ext cx="155448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7" name="Rounded Rectangle 16">
            <a:hlinkClick action="ppaction://hlinksldjump" r:id="rId3"/>
          </p:cNvPr>
          <p:cNvSpPr/>
          <p:nvPr/>
        </p:nvSpPr>
        <p:spPr>
          <a:xfrm>
            <a:off x="10040112" y="6199632"/>
            <a:ext cx="114300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СЧЁТ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438912"/>
            <a:ext cx="109728" cy="109728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6309360"/>
            <a:ext cx="182880" cy="182880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6236208"/>
            <a:ext cx="91440" cy="91440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2920"/>
            <a:ext cx="73152" cy="73152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6355080"/>
            <a:ext cx="54864" cy="54864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438912"/>
            <a:ext cx="1828800" cy="73152"/>
          </a:xfrm>
          <a:prstGeom prst="roundRect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6382512"/>
            <a:ext cx="1783080" cy="73152"/>
          </a:xfrm>
          <a:prstGeom prst="roundRect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32B8"/>
                </a:solidFill>
                <a:latin typeface="Aptos Display"/>
              </a:rPr>
              <a:t>НА ВКУС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402336"/>
            <a:ext cx="1600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E14A"/>
                </a:solidFill>
                <a:latin typeface="Aptos Display"/>
              </a:rPr>
              <a:t>200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1417320"/>
            <a:ext cx="10259568" cy="3337560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1856231"/>
            <a:ext cx="9354312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7F6FF"/>
                </a:solidFill>
                <a:latin typeface="Aptos Display"/>
              </a:rPr>
              <a:t>Придумайте название безалкогольного коктейля
в честь Влада и Аллы.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5248656"/>
            <a:ext cx="35204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B6AFDA"/>
                </a:solidFill>
                <a:latin typeface="Aptos Display"/>
              </a:rPr>
              <a:t>Время пошло!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3950208" y="5687568"/>
            <a:ext cx="4297680" cy="47548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ПОКАЗАТЬ ОТВЕТ</a:t>
            </a:r>
          </a:p>
        </p:txBody>
      </p:sp>
      <p:sp>
        <p:nvSpPr>
          <p:cNvPr id="16" name="Rounded Rectangle 15">
            <a:hlinkClick action="ppaction://hlinksldjump" r:id="rId3"/>
          </p:cNvPr>
          <p:cNvSpPr/>
          <p:nvPr/>
        </p:nvSpPr>
        <p:spPr>
          <a:xfrm>
            <a:off x="502920" y="6199632"/>
            <a:ext cx="155448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7" name="Rounded Rectangle 16">
            <a:hlinkClick action="ppaction://hlinksldjump" r:id="rId4"/>
          </p:cNvPr>
          <p:cNvSpPr/>
          <p:nvPr/>
        </p:nvSpPr>
        <p:spPr>
          <a:xfrm>
            <a:off x="10040112" y="6199632"/>
            <a:ext cx="114300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СЧЁТ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3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438912"/>
            <a:ext cx="109728" cy="109728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6309360"/>
            <a:ext cx="182880" cy="182880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6236208"/>
            <a:ext cx="91440" cy="91440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2920"/>
            <a:ext cx="73152" cy="73152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6355080"/>
            <a:ext cx="54864" cy="54864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438912"/>
            <a:ext cx="1828800" cy="73152"/>
          </a:xfrm>
          <a:prstGeom prst="roundRect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6382512"/>
            <a:ext cx="1783080" cy="73152"/>
          </a:xfrm>
          <a:prstGeom prst="roundRect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DF5FF"/>
                </a:solidFill>
                <a:latin typeface="Aptos Display"/>
              </a:rPr>
              <a:t>НА ВКУС  •  200 БАЛЛОВ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234440"/>
            <a:ext cx="105613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32B8"/>
                </a:solidFill>
                <a:latin typeface="Aptos Display"/>
              </a:rPr>
              <a:t>ОТВЕТ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1938528"/>
            <a:ext cx="9902952" cy="1243584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E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90472" y="2176272"/>
            <a:ext cx="9235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FFE14A"/>
                </a:solidFill>
                <a:latin typeface="Aptos Display"/>
              </a:rPr>
              <a:t>Творческий раунд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22191"/>
            <a:ext cx="972007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F7F6FF"/>
                </a:solidFill>
                <a:latin typeface="Aptos Display"/>
              </a:rPr>
              <a:t>За особенно яркое название — бонусные аплодисменты.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4224528" y="5330952"/>
            <a:ext cx="3730752" cy="530352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502920" y="6199632"/>
            <a:ext cx="155448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7" name="Rounded Rectangle 16">
            <a:hlinkClick action="ppaction://hlinksldjump" r:id="rId3"/>
          </p:cNvPr>
          <p:cNvSpPr/>
          <p:nvPr/>
        </p:nvSpPr>
        <p:spPr>
          <a:xfrm>
            <a:off x="10040112" y="6199632"/>
            <a:ext cx="114300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СЧЁТ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438912"/>
            <a:ext cx="109728" cy="109728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6309360"/>
            <a:ext cx="182880" cy="182880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6236208"/>
            <a:ext cx="91440" cy="91440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2920"/>
            <a:ext cx="73152" cy="73152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6355080"/>
            <a:ext cx="54864" cy="54864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438912"/>
            <a:ext cx="1828800" cy="73152"/>
          </a:xfrm>
          <a:prstGeom prst="roundRect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6382512"/>
            <a:ext cx="1783080" cy="73152"/>
          </a:xfrm>
          <a:prstGeom prst="roundRect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32B8"/>
                </a:solidFill>
                <a:latin typeface="Aptos Display"/>
              </a:rPr>
              <a:t>НА ВКУС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402336"/>
            <a:ext cx="1600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E14A"/>
                </a:solidFill>
                <a:latin typeface="Aptos Display"/>
              </a:rPr>
              <a:t>300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1417320"/>
            <a:ext cx="10259568" cy="3337560"/>
          </a:xfrm>
          <a:prstGeom prst="roundRect">
            <a:avLst/>
          </a:prstGeom>
          <a:solidFill>
            <a:srgbClr val="1F134C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1856231"/>
            <a:ext cx="9354312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7F6FF"/>
                </a:solidFill>
                <a:latin typeface="Aptos Display"/>
              </a:rPr>
              <a:t>За 15 секунд назовите как можно больше
начинок для пиццы.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5248656"/>
            <a:ext cx="35204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B6AFDA"/>
                </a:solidFill>
                <a:latin typeface="Aptos Display"/>
              </a:rPr>
              <a:t>Время пошло!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3950208" y="5687568"/>
            <a:ext cx="4297680" cy="47548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ПОКАЗАТЬ ОТВЕТ</a:t>
            </a:r>
          </a:p>
        </p:txBody>
      </p:sp>
      <p:sp>
        <p:nvSpPr>
          <p:cNvPr id="16" name="Rounded Rectangle 15">
            <a:hlinkClick action="ppaction://hlinksldjump" r:id="rId3"/>
          </p:cNvPr>
          <p:cNvSpPr/>
          <p:nvPr/>
        </p:nvSpPr>
        <p:spPr>
          <a:xfrm>
            <a:off x="502920" y="6199632"/>
            <a:ext cx="155448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7" name="Rounded Rectangle 16">
            <a:hlinkClick action="ppaction://hlinksldjump" r:id="rId4"/>
          </p:cNvPr>
          <p:cNvSpPr/>
          <p:nvPr/>
        </p:nvSpPr>
        <p:spPr>
          <a:xfrm>
            <a:off x="10040112" y="6199632"/>
            <a:ext cx="114300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СЧЁТ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3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31168" y="438912"/>
            <a:ext cx="109728" cy="109728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6309360"/>
            <a:ext cx="182880" cy="182880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6236208"/>
            <a:ext cx="91440" cy="91440"/>
          </a:xfrm>
          <a:prstGeom prst="ellipse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2920"/>
            <a:ext cx="73152" cy="73152"/>
          </a:xfrm>
          <a:prstGeom prst="ellipse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6355080"/>
            <a:ext cx="54864" cy="54864"/>
          </a:xfrm>
          <a:prstGeom prst="ellipse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438912"/>
            <a:ext cx="1828800" cy="73152"/>
          </a:xfrm>
          <a:prstGeom prst="roundRect">
            <a:avLst/>
          </a:prstGeom>
          <a:solidFill>
            <a:srgbClr val="2D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6382512"/>
            <a:ext cx="1783080" cy="73152"/>
          </a:xfrm>
          <a:prstGeom prst="roundRect">
            <a:avLst/>
          </a:prstGeom>
          <a:solidFill>
            <a:srgbClr val="FF3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DF5FF"/>
                </a:solidFill>
                <a:latin typeface="Aptos Display"/>
              </a:rPr>
              <a:t>НА ВКУС  •  300 БАЛЛОВ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234440"/>
            <a:ext cx="105613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32B8"/>
                </a:solidFill>
                <a:latin typeface="Aptos Display"/>
              </a:rPr>
              <a:t>ОТВЕТ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1938528"/>
            <a:ext cx="9902952" cy="1243584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E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90472" y="2176272"/>
            <a:ext cx="9235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FFE14A"/>
                </a:solidFill>
                <a:latin typeface="Aptos Display"/>
              </a:rPr>
              <a:t>Блиц-раунд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22191"/>
            <a:ext cx="972007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F7F6FF"/>
                </a:solidFill>
                <a:latin typeface="Aptos Display"/>
              </a:rPr>
              <a:t>Каждая уникальная начинка — один балл. Повторы не считаются.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4224528" y="5330952"/>
            <a:ext cx="3730752" cy="530352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502920" y="6199632"/>
            <a:ext cx="155448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2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F5FF"/>
                </a:solidFill>
                <a:latin typeface="Aptos Display"/>
              </a:rPr>
              <a:t>К ТАБЛО</a:t>
            </a:r>
          </a:p>
        </p:txBody>
      </p:sp>
      <p:sp>
        <p:nvSpPr>
          <p:cNvPr id="17" name="Rounded Rectangle 16">
            <a:hlinkClick action="ppaction://hlinksldjump" r:id="rId3"/>
          </p:cNvPr>
          <p:cNvSpPr/>
          <p:nvPr/>
        </p:nvSpPr>
        <p:spPr>
          <a:xfrm>
            <a:off x="10040112" y="6199632"/>
            <a:ext cx="1143000" cy="384048"/>
          </a:xfrm>
          <a:prstGeom prst="roundRect">
            <a:avLst/>
          </a:prstGeom>
          <a:solidFill>
            <a:srgbClr val="0D0A28"/>
          </a:solidFill>
          <a:ln w="22860">
            <a:solidFill>
              <a:srgbClr val="FF3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32B8"/>
                </a:solidFill>
                <a:latin typeface="Aptos Display"/>
              </a:rPr>
              <a:t>СЧЁТ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